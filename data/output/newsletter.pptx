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jwFBVV95cUxQeVIyNVhhUGtTcDMyU21sMWVrX3VFcmRWazBrU3BSVTQ3eHlvLXRQSnMyZERzN2ptdHZoVDhDdFlGWmFaRVNzOG4xT3VvMmJTemRrbnNqcExTVWpUYm56WlJ6cy0tUGdVbElPY2Rxa0w2QUxJTDV2UGxxNDFDMUVCdE1lbWVYS3V6WkkxSHJGdw?oc=5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hwFBVV95cUxQQndRYnRrX2g3UE9kZlB0bm51R2RHQjVMMGIybFhTaVpwMFFmLWx5R3pmdVIxaU0xYy05SzY3Z19FWmVqSjctMXcxYWd2bWY3a2U0ZXpOYU1kbVFhaEgtVGxnRHVRWnE5aW56RGtma09PMUdzRl9lc1d1X2tuOUhfeEJ0T0VBQzQ?oc=5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vAFBVV95cUxOTkEyLV8wbWJ0U3Y0ekR1N0hkV0xJN08xTm5uSXdzVGpBOFQ2SVQwQld2dzN4Z3JKMk5GcWFEYXNMZV9iT3EwMXVjWUU3WHhjVk9MTVFXMzloNGpjT1U3akN5SEhlVzIyQlpOQlVSY29aSXdCR0NDU285YXJIWFlLd3V3cWd4S3JITjZUSlJWajIwOTBjbW5sZlQ5Vy1OU25icTl4X01GdWsyN010Ry1FTTJMVG1EcXR2RUROXw?oc=5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5AFBVV95cUxNY25zOHB6UUgxaFVBMWJFY0RtTzBQZFU4NWs0ZG5VOUdSOWxLSVNRSVgza2RoYXUycGM0LU15aDdQUVRsN0ZyWnJFZEtGZGh0TS1BVi1TUkxmaWFkWS0waVBKSHR3RXdsUXRMN0FqNDdTeHNNc1hjaWUtWFRON29GWVRrTFdCZ0MzY1MyNFZRQV9zSUppV1FtNnoxUjFJbXNMZW9ZbkxxaEsyeUxiU1ZCendmQjd3dDJIeC1fQ29yaF9XUWxNTVYtTWV4SXo3eWZKZ1RhUm5zRG5HcHJqNk5aUzJvNEQ?oc=5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jwFBVV95cUxQTzY1UHNsbGNQYUdTQjRCWG9XenhLWU43NTl0VGxJbnYtSkhKRzFEcVhsUVpaRWdtQzEyRUdfcUFZSDY1b3ZBVE5xckpsTG1rTDFGekN4MWgxRWxWWnNyUk11N3NWcmQ0TUltSUpob05TZGotMkxrVmhKYVpBeGxSb3lVVFRFQlM4RHRPd0Znbw?oc=5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swFBVV95cUxPaklXbjhEZmJQTl9tZXZrbXg0Y0M2STRvZV9PbHp3MENDNnFxX1lnbVFjXzhRUlZjUGtzbGhENEdWUDE4a0EzUUlqWFdkR2psNkN0SjAtQTdsa1VQZ2pSbzFxemE3VVF1SUplNHFaejhITXdQSExYYTc1bHJkUWVBWmVuRUhkRU0yR0RscTlJSGVjNElwc3J2OUhib0FHRE5zR2JhOU50aUVQMTVQeG41MUg0UQ?oc=5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a0FVX3lxTFBYVDVmYmtpbV9OdnloYWRNcGhNb0JERVJsTEZzT1JlVHlCbEN4NzE1azUyaUp0TW5fYzROQjQ4Yk9meUJDOHF6VFA4LThCOFFySGRBS29LWmIzN1FHZ1k2cWNoeWw1X2lfS3A00gFrQVVfeXFMUFhUNWZia2ltX052eWhhZE1waE1vQkRFUmxMRnNPUmVUeUJsQ3g3MTVrNTJpSnRNbl9jNE5CNDhiT2Z5QkM4cXpUUDgtOEI4UXJIZEFLb0taYjM3UUdnWTZxY2h5bDVfaV9LcDQ?oc=5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qAFBVV95cUxNcks2aHpuZ0NtNE5lODVfRGJMSUZ6d1Q0SEN0bG0wWjIwZE9HcE13U3pUa2dPWXM2TDByNUpqMWJadzNackRSekFJY3dtUmxBTkYyUW5fRmZybEVmTWxUaklTbWpKS0l6VWsyQjc4blpjTDY4NFJ4TXlVMG1HLVFIMW9iQm41YmdXNkU4STRjVWNOTmRMNUZJZmtjVmlSMG0tZUVvNVB4blTSAa8BQVVfeXFMUFotd2tLSUtTVURwLWV0YUFmQ29LMjFsWVFpa3NkSUNadTgxVkttOW5rMzJjbGVFMnluaDVUaEJuRzByR3Y4MGdiMy1SLUgyNThucVkyMEw3V04zbU1PdHRneVNFdGdoRUxfSXN3aU56YjVLdFZVR3lyaW1oUEsyeE5hdmVSMEMxNTdHSlpuRXNiY1ZEblZNMUJUX1YzdHEwdVBRYUNLNVM0eEpQOEVYTQ?oc=5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lwFBVV95cUxOb0d2S3c5TndXdnJ3MWJmS2RzZWdILW9NU1EwcTNmNV9zcS1hQzlWRjlld1NEUVVjQ2RyNmVad2xmcHF3eUZ0N0FiWFU3LXp2c2EtQmg3TURDclpERy1PWE5BQlFQYjZUSFZrNTNrNFBXOExOOHpXZTlWX0h4S09jQzFyVjlyOG1RN3FzVVVsaFZjOVhrSURZ?oc=5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12121"/>
                </a:solidFill>
              </a:rPr>
              <a:t>FMCG Deal Intelligence</a:t>
            </a:r>
          </a:p>
          <a:p>
            <a:pPr algn="ctr"/>
            <a:r>
              <a:rPr sz="2000" b="0" i="0">
                <a:solidFill>
                  <a:srgbClr val="1B5E20"/>
                </a:solidFill>
              </a:rPr>
              <a:t>Recent M&amp;A, Investment &amp; Funding Activity</a:t>
            </a:r>
          </a:p>
          <a:p>
            <a:pPr algn="ctr"/>
            <a:r>
              <a:rPr sz="1300" b="0" i="1">
                <a:solidFill>
                  <a:srgbClr val="757575"/>
                </a:solidFill>
              </a:rPr>
              <a:t>Generated July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4CAF50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121"/>
                </a:solidFill>
              </a:rPr>
              <a:t>Marico's Acquired Brands Earn ₹2,375 Crore in FY26 - Lapaas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B5E20"/>
                </a:solidFill>
              </a:rPr>
              <a:t>Marico</a:t>
            </a:r>
          </a:p>
          <a:p>
            <a:r>
              <a:rPr sz="1600" b="0" i="0">
                <a:solidFill>
                  <a:srgbClr val="212121"/>
                </a:solidFill>
              </a:rPr>
              <a:t>Acquisition · INR 2375.0</a:t>
            </a:r>
          </a:p>
          <a:p>
            <a:r>
              <a:rPr sz="1300" b="0" i="0">
                <a:solidFill>
                  <a:srgbClr val="757575"/>
                </a:solidFill>
              </a:rPr>
              <a:t>Region: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57575"/>
                </a:solidFill>
                <a:hlinkClick r:id="rId2"/>
              </a:rPr>
              <a:t>Source: Lapaas Voice  ·  Credibility 0.76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4CAF50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121"/>
                </a:solidFill>
              </a:rPr>
              <a:t>Plum Beauty Plans $75–100 Million Record Fundraise - Lapaas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B5E20"/>
                </a:solidFill>
              </a:rPr>
              <a:t>Plum Beauty</a:t>
            </a:r>
          </a:p>
          <a:p>
            <a:r>
              <a:rPr sz="1600" b="0" i="0">
                <a:solidFill>
                  <a:srgbClr val="212121"/>
                </a:solidFill>
              </a:rPr>
              <a:t>Funding</a:t>
            </a:r>
          </a:p>
          <a:p>
            <a:r>
              <a:rPr sz="1300" b="0" i="0">
                <a:solidFill>
                  <a:srgbClr val="757575"/>
                </a:solidFill>
              </a:rPr>
              <a:t>Region: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57575"/>
                </a:solidFill>
                <a:hlinkClick r:id="rId2"/>
              </a:rPr>
              <a:t>Source: Lapaas Voice  ·  Credibility 0.76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4CAF50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121"/>
                </a:solidFill>
              </a:rPr>
              <a:t>10Beauty’s Robotic Manicure Raises $23.5M in Funding Led by Story Ventures - Beauty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B5E20"/>
                </a:solidFill>
              </a:rPr>
              <a:t>Story Ventures → 10Beauty</a:t>
            </a:r>
          </a:p>
          <a:p>
            <a:r>
              <a:rPr sz="1600" b="0" i="0">
                <a:solidFill>
                  <a:srgbClr val="212121"/>
                </a:solidFill>
              </a:rPr>
              <a:t>Funding · USD 23.5</a:t>
            </a:r>
          </a:p>
          <a:p>
            <a:r>
              <a:rPr sz="1300" b="0" i="0">
                <a:solidFill>
                  <a:srgbClr val="757575"/>
                </a:solidFill>
              </a:rPr>
              <a:t>Region: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57575"/>
                </a:solidFill>
                <a:hlinkClick r:id="rId2"/>
              </a:rPr>
              <a:t>Source: Beauty Packaging  ·  Credibility 0.69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4CAF50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121"/>
                </a:solidFill>
              </a:rPr>
              <a:t>Thailand’s BOI Approves $688 Million Nestlé Investment for AI-Driven Regional Coffee Hub - Media OutReach Newswire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B5E20"/>
                </a:solidFill>
              </a:rPr>
              <a:t>Nestlé</a:t>
            </a:r>
          </a:p>
          <a:p>
            <a:r>
              <a:rPr sz="1600" b="0" i="0">
                <a:solidFill>
                  <a:srgbClr val="212121"/>
                </a:solidFill>
              </a:rPr>
              <a:t>Investment · USD 688.0</a:t>
            </a:r>
          </a:p>
          <a:p>
            <a:r>
              <a:rPr sz="1300" b="0" i="0">
                <a:solidFill>
                  <a:srgbClr val="757575"/>
                </a:solidFill>
              </a:rPr>
              <a:t>Region: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57575"/>
                </a:solidFill>
                <a:hlinkClick r:id="rId2"/>
              </a:rPr>
              <a:t>Source: Media OutReach Newswire  ·  Credibility 0.69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4CAF50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121"/>
                </a:solidFill>
              </a:rPr>
              <a:t>Deals tracker: IKS Health acquires TruBridge in $557M deal - Modern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B5E20"/>
                </a:solidFill>
              </a:rPr>
              <a:t>IKS Health → TruBridge</a:t>
            </a:r>
          </a:p>
          <a:p>
            <a:r>
              <a:rPr sz="1600" b="0" i="0">
                <a:solidFill>
                  <a:srgbClr val="212121"/>
                </a:solidFill>
              </a:rPr>
              <a:t>Acquisition · USD 557.0</a:t>
            </a:r>
          </a:p>
          <a:p>
            <a:r>
              <a:rPr sz="1300" b="0" i="0">
                <a:solidFill>
                  <a:srgbClr val="757575"/>
                </a:solidFill>
              </a:rPr>
              <a:t>Region: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57575"/>
                </a:solidFill>
                <a:hlinkClick r:id="rId2"/>
              </a:rPr>
              <a:t>Source: Modern Healthcare  ·  Credibility 0.69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4CAF50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121"/>
                </a:solidFill>
              </a:rPr>
              <a:t>PepsiCo commissions second India flavour plant in Ujjain with Rs 1,266-cr investment - India Retailing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B5E20"/>
                </a:solidFill>
              </a:rPr>
              <a:t>PepsiCo</a:t>
            </a:r>
          </a:p>
          <a:p>
            <a:r>
              <a:rPr sz="1600" b="0" i="0">
                <a:solidFill>
                  <a:srgbClr val="212121"/>
                </a:solidFill>
              </a:rPr>
              <a:t>Investment · INR 1266.0</a:t>
            </a:r>
          </a:p>
          <a:p>
            <a:r>
              <a:rPr sz="1300" b="0" i="0">
                <a:solidFill>
                  <a:srgbClr val="757575"/>
                </a:solidFill>
              </a:rPr>
              <a:t>Region: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57575"/>
                </a:solidFill>
                <a:hlinkClick r:id="rId2"/>
              </a:rPr>
              <a:t>Source: India Retailing  ·  Credibility 0.64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4CAF50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121"/>
                </a:solidFill>
              </a:rPr>
              <a:t>Beauty Platform Acquisitions - Trend Hunter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57575"/>
                </a:solidFill>
              </a:rPr>
              <a:t>Region: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57575"/>
                </a:solidFill>
                <a:hlinkClick r:id="rId2"/>
              </a:rPr>
              <a:t>Source: Trend Hunter  ·  Credibility 0.56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4CAF50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121"/>
                </a:solidFill>
              </a:rPr>
              <a:t>DKSH bolsters Italy presence with Gale &amp; Cosm acquisition - Indian Chemical News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B5E20"/>
                </a:solidFill>
              </a:rPr>
              <a:t>DKSH → Gale &amp; Cosm</a:t>
            </a:r>
          </a:p>
          <a:p>
            <a:r>
              <a:rPr sz="1600" b="0" i="0">
                <a:solidFill>
                  <a:srgbClr val="212121"/>
                </a:solidFill>
              </a:rPr>
              <a:t>Acquisition</a:t>
            </a:r>
          </a:p>
          <a:p>
            <a:r>
              <a:rPr sz="1300" b="0" i="0">
                <a:solidFill>
                  <a:srgbClr val="757575"/>
                </a:solidFill>
              </a:rPr>
              <a:t>Region: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57575"/>
                </a:solidFill>
                <a:hlinkClick r:id="rId2"/>
              </a:rPr>
              <a:t>Source: Indian Chemical News  ·  Credibility 0.56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4CAF50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12121"/>
                </a:solidFill>
              </a:rPr>
              <a:t>Ananta Capital Acquires Majority Stake In Personal Care Brand Phitku - Inc42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B5E20"/>
                </a:solidFill>
              </a:rPr>
              <a:t>Ananta Capital → Phitku</a:t>
            </a:r>
          </a:p>
          <a:p>
            <a:r>
              <a:rPr sz="1600" b="0" i="0">
                <a:solidFill>
                  <a:srgbClr val="212121"/>
                </a:solidFill>
              </a:rPr>
              <a:t>Stake</a:t>
            </a:r>
          </a:p>
          <a:p>
            <a:r>
              <a:rPr sz="1300" b="0" i="0">
                <a:solidFill>
                  <a:srgbClr val="757575"/>
                </a:solidFill>
              </a:rPr>
              <a:t>Region: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57575"/>
                </a:solidFill>
                <a:hlinkClick r:id="rId2"/>
              </a:rPr>
              <a:t>Source: Inc42  ·  Credibility 0.54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B5E20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12121"/>
                </a:solidFill>
              </a:rPr>
              <a:t>•  9 deal(s) featured in this edition</a:t>
            </a:r>
          </a:p>
          <a:p>
            <a:r>
              <a:rPr sz="1800" b="0" i="0">
                <a:solidFill>
                  <a:srgbClr val="212121"/>
                </a:solidFill>
              </a:rPr>
              <a:t>•  Average credibility score: 0.65</a:t>
            </a:r>
          </a:p>
          <a:p>
            <a:r>
              <a:rPr sz="1800" b="0" i="0">
                <a:solidFill>
                  <a:srgbClr val="212121"/>
                </a:solidFill>
              </a:rPr>
              <a:t>•  Generated July 13, 2026</a:t>
            </a:r>
          </a:p>
          <a:p>
            <a:r>
              <a:rPr sz="1800" b="0" i="0">
                <a:solidFill>
                  <a:srgbClr val="212121"/>
                </a:solidFill>
              </a:rPr>
              <a:t>•  Full dataset (with every source link) available in the accompanying CSV/JSON.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